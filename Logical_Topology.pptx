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F91F4-FF0B-35F5-67D8-CFEFDBF92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C2CFD-053E-6661-6BCA-01998A30C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0F3EF-1D23-A99F-67A6-9ADBC0E23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3C4BE-C61C-48EB-B8EA-9DEF835C0C8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ACE60-1438-1D06-2BBF-03F294017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9172-0A9C-9B40-F0F3-DF4CB347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3BA-FC51-43BA-902D-2265ABED8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9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C5029-AB06-5975-7D64-368BC2B5D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D8D28-5C33-FE3A-7FE8-DA779C3B6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0D515-B2CD-876B-3B0D-B21A01B77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3C4BE-C61C-48EB-B8EA-9DEF835C0C8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A0F1A-0ADE-2964-5E71-CBE7C9F5B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0D2D4-DD5D-7B90-2B20-6337B33B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3BA-FC51-43BA-902D-2265ABED8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44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5AB0-DB24-ED04-2FAF-1C05D724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C0332-1A36-3198-1163-9A174041B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EBCEE-42C8-680B-8B28-E254EAC9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3C4BE-C61C-48EB-B8EA-9DEF835C0C8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906E3-F9E2-FDE3-1615-09701E80A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97641-9733-4BE7-FA37-8A3F26273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3BA-FC51-43BA-902D-2265ABED8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2C42-7D32-570B-0EC8-9E1D8C2A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2BEC1-7CD6-933D-433B-12E1073B1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6527E-81FF-6128-E3E2-5E4B5CEF5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2DDEF-14B2-42DB-2D16-529223783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3C4BE-C61C-48EB-B8EA-9DEF835C0C8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9A448-828C-DA1F-8B4D-B98C7199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9C837-3AC1-F3E0-BB53-1D50B90F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3BA-FC51-43BA-902D-2265ABED8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23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04E5-05AD-31AE-197A-5A585F260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FD3E3-C2F2-40F1-3D96-900EDA60C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3E91B-7F0F-9B82-F2DE-B3A66837B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3BE9D4-3D46-5847-4413-2D63EE386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FEEBC1-7A2C-691D-34F3-BA022ADD1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EC83B2-9885-7FE2-A782-ADCD3C7DF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3C4BE-C61C-48EB-B8EA-9DEF835C0C8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234CBA-F7B2-CD9F-773A-5D37DE1A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708022-991E-E365-1185-0E4A32886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3BA-FC51-43BA-902D-2265ABED8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3DA1B-BFF0-D919-EB22-258D88F1D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EBB42-5D51-86CE-689A-41B811F9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3C4BE-C61C-48EB-B8EA-9DEF835C0C8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AD71B-F8FF-CB14-BA85-7180A21A3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5841DB-C767-92F7-3235-0F9E50D5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3BA-FC51-43BA-902D-2265ABED8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2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0AECF-40D8-BB77-22FA-66AB67EE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3C4BE-C61C-48EB-B8EA-9DEF835C0C8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655BB-D4F6-00A9-9C92-867AACB6B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7B51A-C190-72A5-10BC-171A101EA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3BA-FC51-43BA-902D-2265ABED8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18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C00D-707B-66A3-28E2-0042E3601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D6E21-239B-4B48-373D-A5D12A13B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BD2B7-3142-4363-210A-5D1B86BBB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30CC1-1413-1282-18EC-AF4BBA7E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3C4BE-C61C-48EB-B8EA-9DEF835C0C8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0CDE2-4485-68A1-736E-E5A719DC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82854-F6DE-7412-92EA-D8E235532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3BA-FC51-43BA-902D-2265ABED8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6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D880-C71F-17C0-9B5C-3F04AF437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97424-9DC3-667B-9D92-2AFF270DA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1C25D-C287-BF69-09FF-9A67643C6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57A2C-6784-AD1B-1778-1AEB260B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3C4BE-C61C-48EB-B8EA-9DEF835C0C8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16C7E-3A43-D425-8092-B379A0938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70930-7E17-D538-DA7A-A492D9AE2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3BA-FC51-43BA-902D-2265ABED8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47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318D-1A1A-8929-32AD-C04D0D34A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C7300-29CD-4D36-4D48-C61388ADE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9546D-F600-8CDA-DAAC-9A47A951B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3C4BE-C61C-48EB-B8EA-9DEF835C0C8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1A02-C0B0-4E41-1935-6E7FD897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A58B9-36FE-79D3-801E-5A3509ECC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3BA-FC51-43BA-902D-2265ABED8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03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31B91-B61C-602F-506E-86B3D8304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B4CD0-C50B-360E-411B-323019CA2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0C551-4BED-9927-6F21-E73DAE382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3C4BE-C61C-48EB-B8EA-9DEF835C0C8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9620E-BEB7-ABDD-29C8-FCE96E0A4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9304E-7DE5-0A45-EFA1-811E0234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3BA-FC51-43BA-902D-2265ABED8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635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A8374-75CB-B447-7B90-4419E55A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243D1-6C52-0F29-7239-F6CF1D45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51094-20DB-AD56-2823-F70357C23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3C4BE-C61C-48EB-B8EA-9DEF835C0C8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7AE30-11B5-266F-0104-87BF20D30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8BE4E-5295-B76E-8D85-20D4230B6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543BA-FC51-43BA-902D-2265ABED8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1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71808E5-20DA-3D45-0E16-4E34AA0B2AD5}"/>
              </a:ext>
            </a:extLst>
          </p:cNvPr>
          <p:cNvSpPr txBox="1"/>
          <p:nvPr/>
        </p:nvSpPr>
        <p:spPr>
          <a:xfrm>
            <a:off x="2414016" y="146304"/>
            <a:ext cx="7424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CMPG325-2026-134 – </a:t>
            </a:r>
            <a:r>
              <a:rPr lang="en-US" u="sng" dirty="0" err="1"/>
              <a:t>Barolong</a:t>
            </a:r>
            <a:r>
              <a:rPr lang="en-US" u="sng" dirty="0"/>
              <a:t> Auto </a:t>
            </a:r>
            <a:r>
              <a:rPr lang="en-US" u="sng" dirty="0" err="1"/>
              <a:t>DealershipLogical</a:t>
            </a:r>
            <a:r>
              <a:rPr lang="en-US" u="sng" dirty="0"/>
              <a:t> Network Topology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788EB-92FD-3A26-F32D-C51090B07847}"/>
              </a:ext>
            </a:extLst>
          </p:cNvPr>
          <p:cNvSpPr/>
          <p:nvPr/>
        </p:nvSpPr>
        <p:spPr>
          <a:xfrm>
            <a:off x="3995928" y="578644"/>
            <a:ext cx="3813048" cy="1307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CORE NETWORK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CORE-SW1</a:t>
            </a:r>
          </a:p>
          <a:p>
            <a:pPr algn="ctr"/>
            <a:r>
              <a:rPr lang="en-US" sz="1200" dirty="0"/>
              <a:t>Primary STP Root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CORE-SW2</a:t>
            </a:r>
          </a:p>
          <a:p>
            <a:pPr algn="ctr"/>
            <a:r>
              <a:rPr lang="en-US" sz="1200" dirty="0"/>
              <a:t>Secondary STP Root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172138-B515-F9D7-3121-D70398676443}"/>
              </a:ext>
            </a:extLst>
          </p:cNvPr>
          <p:cNvSpPr/>
          <p:nvPr/>
        </p:nvSpPr>
        <p:spPr>
          <a:xfrm>
            <a:off x="2846832" y="2270282"/>
            <a:ext cx="1664208" cy="1307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VLAN 10</a:t>
            </a:r>
          </a:p>
          <a:p>
            <a:pPr algn="ctr"/>
            <a:r>
              <a:rPr lang="en-US" sz="1000" dirty="0"/>
              <a:t>ADMINISTRATION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Network:</a:t>
            </a:r>
          </a:p>
          <a:p>
            <a:pPr algn="ctr"/>
            <a:r>
              <a:rPr lang="en-US" sz="1000" dirty="0"/>
              <a:t>172.30.88.0/26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Gateway:</a:t>
            </a:r>
          </a:p>
          <a:p>
            <a:pPr algn="ctr"/>
            <a:r>
              <a:rPr lang="en-US" sz="1000" dirty="0"/>
              <a:t>172.30.88.1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BB86DF-0BD8-ECEB-57B7-129F9C583412}"/>
              </a:ext>
            </a:extLst>
          </p:cNvPr>
          <p:cNvSpPr/>
          <p:nvPr/>
        </p:nvSpPr>
        <p:spPr>
          <a:xfrm>
            <a:off x="5266944" y="2270282"/>
            <a:ext cx="1664208" cy="1307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VLAN 20</a:t>
            </a:r>
          </a:p>
          <a:p>
            <a:pPr algn="ctr"/>
            <a:r>
              <a:rPr lang="en-US" sz="1000" dirty="0"/>
              <a:t>SALES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Network:</a:t>
            </a:r>
          </a:p>
          <a:p>
            <a:pPr algn="ctr"/>
            <a:r>
              <a:rPr lang="en-US" sz="1000" dirty="0"/>
              <a:t>172.30.88.64/26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Gateway:</a:t>
            </a:r>
          </a:p>
          <a:p>
            <a:pPr algn="ctr"/>
            <a:r>
              <a:rPr lang="en-US" sz="1000" dirty="0"/>
              <a:t>172.30.88.65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0F471F-2F5B-469A-EBDE-34EB42FAA228}"/>
              </a:ext>
            </a:extLst>
          </p:cNvPr>
          <p:cNvSpPr/>
          <p:nvPr/>
        </p:nvSpPr>
        <p:spPr>
          <a:xfrm>
            <a:off x="7680960" y="2270282"/>
            <a:ext cx="1664208" cy="1307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VLAN 30</a:t>
            </a:r>
          </a:p>
          <a:p>
            <a:pPr algn="ctr"/>
            <a:r>
              <a:rPr lang="en-US" sz="1000" dirty="0"/>
              <a:t>WORKSHOP / SERVICE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Network:</a:t>
            </a:r>
          </a:p>
          <a:p>
            <a:pPr algn="ctr"/>
            <a:r>
              <a:rPr lang="en-US" sz="1000" dirty="0"/>
              <a:t>172.30.88.128/26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Gateway:</a:t>
            </a:r>
          </a:p>
          <a:p>
            <a:pPr algn="ctr"/>
            <a:r>
              <a:rPr lang="en-US" sz="1000" dirty="0"/>
              <a:t>172.30.88.129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C5C3BD-251F-CC5C-1CA7-6EBDE2E072AD}"/>
              </a:ext>
            </a:extLst>
          </p:cNvPr>
          <p:cNvSpPr/>
          <p:nvPr/>
        </p:nvSpPr>
        <p:spPr>
          <a:xfrm>
            <a:off x="5266944" y="4137662"/>
            <a:ext cx="1664208" cy="1307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VLAN 40</a:t>
            </a:r>
          </a:p>
          <a:p>
            <a:pPr algn="ctr"/>
            <a:r>
              <a:rPr lang="en-US" sz="1000" dirty="0"/>
              <a:t>PUBLIC / GUEST WI-FI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Network:</a:t>
            </a:r>
          </a:p>
          <a:p>
            <a:pPr algn="ctr"/>
            <a:r>
              <a:rPr lang="en-US" sz="1000" dirty="0"/>
              <a:t>172.30.88.192/26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Gateway:</a:t>
            </a:r>
          </a:p>
          <a:p>
            <a:pPr algn="ctr"/>
            <a:r>
              <a:rPr lang="en-US" sz="1000" dirty="0"/>
              <a:t>172.30.88.193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2AF6A31-A615-6F52-CCD2-1E5281C297C3}"/>
              </a:ext>
            </a:extLst>
          </p:cNvPr>
          <p:cNvCxnSpPr>
            <a:cxnSpLocks/>
          </p:cNvCxnSpPr>
          <p:nvPr/>
        </p:nvCxnSpPr>
        <p:spPr>
          <a:xfrm rot="10800000" flipV="1">
            <a:off x="3172968" y="978980"/>
            <a:ext cx="1216152" cy="12913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F36A08D-6D7F-998F-C89C-C086E16505EA}"/>
              </a:ext>
            </a:extLst>
          </p:cNvPr>
          <p:cNvSpPr/>
          <p:nvPr/>
        </p:nvSpPr>
        <p:spPr>
          <a:xfrm>
            <a:off x="1508760" y="4137662"/>
            <a:ext cx="1664208" cy="1291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VLAN 50</a:t>
            </a:r>
          </a:p>
          <a:p>
            <a:pPr algn="ctr"/>
            <a:r>
              <a:rPr lang="en-US" sz="1000" dirty="0"/>
              <a:t>NETWORK MANAGEMENT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Network:</a:t>
            </a:r>
          </a:p>
          <a:p>
            <a:pPr algn="ctr"/>
            <a:r>
              <a:rPr lang="en-US" sz="1000" dirty="0"/>
              <a:t>172.30.89.0/27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Gateway:</a:t>
            </a:r>
          </a:p>
          <a:p>
            <a:pPr algn="ctr"/>
            <a:r>
              <a:rPr lang="en-US" sz="1000" dirty="0"/>
              <a:t>172.30.89.1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72CC5D-C9EA-0FFE-B8C4-294C00973672}"/>
              </a:ext>
            </a:extLst>
          </p:cNvPr>
          <p:cNvSpPr/>
          <p:nvPr/>
        </p:nvSpPr>
        <p:spPr>
          <a:xfrm>
            <a:off x="9787128" y="3181115"/>
            <a:ext cx="1792224" cy="15198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VLAN 60</a:t>
            </a:r>
          </a:p>
          <a:p>
            <a:pPr algn="ctr"/>
            <a:r>
              <a:rPr lang="en-US" sz="1000" dirty="0"/>
              <a:t>FUTURE BRANCH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RESERVED ADDRESSING ONLY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Network:</a:t>
            </a:r>
          </a:p>
          <a:p>
            <a:pPr algn="ctr"/>
            <a:r>
              <a:rPr lang="en-US" sz="1000" dirty="0"/>
              <a:t>172.30.89.32/27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NO SECOND SITE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047CE7B-752C-6341-A4C8-2FC0689FD86A}"/>
              </a:ext>
            </a:extLst>
          </p:cNvPr>
          <p:cNvSpPr/>
          <p:nvPr/>
        </p:nvSpPr>
        <p:spPr>
          <a:xfrm>
            <a:off x="9262872" y="5097205"/>
            <a:ext cx="2609091" cy="1519897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STP DESIGN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CORE-SW1</a:t>
            </a:r>
          </a:p>
          <a:p>
            <a:pPr algn="ctr"/>
            <a:r>
              <a:rPr lang="en-US" sz="1000" dirty="0"/>
              <a:t>Primary Root Bridge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CORE-SW2</a:t>
            </a:r>
          </a:p>
          <a:p>
            <a:pPr algn="ctr"/>
            <a:r>
              <a:rPr lang="en-US" sz="1000" dirty="0"/>
              <a:t>Secondary Root Bridge</a:t>
            </a:r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Redundant Layer-2 paths will be controlled</a:t>
            </a:r>
          </a:p>
          <a:p>
            <a:pPr algn="ctr"/>
            <a:r>
              <a:rPr lang="en-US" sz="1000" dirty="0"/>
              <a:t>by STP to prevent switching loops.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9CED07C2-A7B8-40BF-94BC-33599AF75DE3}"/>
              </a:ext>
            </a:extLst>
          </p:cNvPr>
          <p:cNvCxnSpPr>
            <a:stCxn id="8" idx="3"/>
          </p:cNvCxnSpPr>
          <p:nvPr/>
        </p:nvCxnSpPr>
        <p:spPr>
          <a:xfrm>
            <a:off x="7808976" y="1232440"/>
            <a:ext cx="859536" cy="10378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4ED2AB0B-975F-CB60-4105-A8D991E52518}"/>
              </a:ext>
            </a:extLst>
          </p:cNvPr>
          <p:cNvCxnSpPr>
            <a:stCxn id="8" idx="2"/>
          </p:cNvCxnSpPr>
          <p:nvPr/>
        </p:nvCxnSpPr>
        <p:spPr>
          <a:xfrm rot="5400000">
            <a:off x="5662423" y="2030253"/>
            <a:ext cx="384046" cy="960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42F95DC-FFEF-FA28-55B6-8A5947157AC8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678936" y="3577874"/>
            <a:ext cx="0" cy="3631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ECD7CB1-B52A-B532-6C41-DB597BE3517B}"/>
              </a:ext>
            </a:extLst>
          </p:cNvPr>
          <p:cNvCxnSpPr/>
          <p:nvPr/>
        </p:nvCxnSpPr>
        <p:spPr>
          <a:xfrm>
            <a:off x="3678936" y="3941064"/>
            <a:ext cx="49895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E50BE18-49F3-04CB-5A71-F83B17F497BB}"/>
              </a:ext>
            </a:extLst>
          </p:cNvPr>
          <p:cNvCxnSpPr/>
          <p:nvPr/>
        </p:nvCxnSpPr>
        <p:spPr>
          <a:xfrm flipV="1">
            <a:off x="8668512" y="3577874"/>
            <a:ext cx="0" cy="3631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0C2D797-A625-F9AE-A735-153209D58DC0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6099048" y="3577874"/>
            <a:ext cx="0" cy="559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1C10BDCB-0215-E9EE-AB09-4197D3566069}"/>
              </a:ext>
            </a:extLst>
          </p:cNvPr>
          <p:cNvSpPr/>
          <p:nvPr/>
        </p:nvSpPr>
        <p:spPr>
          <a:xfrm>
            <a:off x="5266944" y="5857153"/>
            <a:ext cx="1801368" cy="5253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[ AP-PUBLIC ] ))) ))) ))) [Guest Laptop] [Guest Laptop] 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D2ED0BF-DBD2-5B59-4EFF-DFE66601DD17}"/>
              </a:ext>
            </a:extLst>
          </p:cNvPr>
          <p:cNvCxnSpPr>
            <a:stCxn id="18" idx="2"/>
          </p:cNvCxnSpPr>
          <p:nvPr/>
        </p:nvCxnSpPr>
        <p:spPr>
          <a:xfrm flipH="1">
            <a:off x="6096000" y="5445254"/>
            <a:ext cx="3048" cy="411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856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118</Words>
  <Application>Microsoft Office PowerPoint</Application>
  <PresentationFormat>Widescreen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Envy Sibiya</dc:creator>
  <cp:lastModifiedBy>Envy Sibiya</cp:lastModifiedBy>
  <cp:revision>2</cp:revision>
  <dcterms:created xsi:type="dcterms:W3CDTF">2026-08-28T20:28:55Z</dcterms:created>
  <dcterms:modified xsi:type="dcterms:W3CDTF">2026-08-28T21:10:45Z</dcterms:modified>
</cp:coreProperties>
</file>